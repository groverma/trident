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c878f85ca446c8" /><Relationship Type="http://schemas.openxmlformats.org/officeDocument/2006/relationships/extended-properties" Target="/docProps/app.xml" Id="R96212403fb8449c4" /><Relationship Type="http://schemas.openxmlformats.org/officeDocument/2006/relationships/officeDocument" Target="/ppt/presentation.xml" Id="R8c90f77fe4d948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ac8a164674841"/>
  </p:sldMasterIdLst>
  <p:notesMasterIdLst>
    <p:notesMasterId xmlns:r="http://schemas.openxmlformats.org/officeDocument/2006/relationships" r:id="R07d8dd855ac94967"/>
  </p:notesMasterIdLst>
  <p:sldIdLst>
    <p:sldId xmlns:r="http://schemas.openxmlformats.org/officeDocument/2006/relationships" id="256" r:id="R0908d33d9d4449f7"/>
    <p:sldId xmlns:r="http://schemas.openxmlformats.org/officeDocument/2006/relationships" id="257" r:id="R86fae5d8015b4df6"/>
    <p:sldId xmlns:r="http://schemas.openxmlformats.org/officeDocument/2006/relationships" id="258" r:id="R4b3d0f14306f4b8c"/>
    <p:sldId xmlns:r="http://schemas.openxmlformats.org/officeDocument/2006/relationships" id="259" r:id="Rd42e7225881047dd"/>
    <p:sldId xmlns:r="http://schemas.openxmlformats.org/officeDocument/2006/relationships" id="260" r:id="R9b9d34ab371b45cb"/>
    <p:sldId xmlns:r="http://schemas.openxmlformats.org/officeDocument/2006/relationships" id="261" r:id="Racc5a1b9b54a407d"/>
    <p:sldId xmlns:r="http://schemas.openxmlformats.org/officeDocument/2006/relationships" id="262" r:id="R7830daedb3d14335"/>
    <p:sldId xmlns:r="http://schemas.openxmlformats.org/officeDocument/2006/relationships" id="263" r:id="R6b3dd4883e714e77"/>
    <p:sldId xmlns:r="http://schemas.openxmlformats.org/officeDocument/2006/relationships" id="264" r:id="R219ddfd7b0094b68"/>
    <p:sldId xmlns:r="http://schemas.openxmlformats.org/officeDocument/2006/relationships" id="265" r:id="R5ed931175d8a4c08"/>
    <p:sldId xmlns:r="http://schemas.openxmlformats.org/officeDocument/2006/relationships" id="266" r:id="R5a87553d089f4a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fafd5dc7b4425" /><Relationship Type="http://schemas.openxmlformats.org/officeDocument/2006/relationships/slideMaster" Target="/ppt/slideMasters/slideMaster1.xml" Id="Re0dac8a164674841" /><Relationship Type="http://schemas.openxmlformats.org/officeDocument/2006/relationships/notesMaster" Target="/ppt/notesMasters/notesMaster1.xml" Id="R07d8dd855ac94967" /><Relationship Type="http://schemas.openxmlformats.org/officeDocument/2006/relationships/presProps" Target="/ppt/presProps.xml" Id="R8884165bfd154f28" /><Relationship Type="http://schemas.openxmlformats.org/officeDocument/2006/relationships/tableStyles" Target="/ppt/tableStyles.xml" Id="Rfefcbfa77a744946" /><Relationship Type="http://schemas.openxmlformats.org/officeDocument/2006/relationships/slide" Target="/ppt/slides/slide1.xml" Id="R0908d33d9d4449f7" /><Relationship Type="http://schemas.openxmlformats.org/officeDocument/2006/relationships/slide" Target="/ppt/slides/slide2.xml" Id="R86fae5d8015b4df6" /><Relationship Type="http://schemas.openxmlformats.org/officeDocument/2006/relationships/slide" Target="/ppt/slides/slide3.xml" Id="R4b3d0f14306f4b8c" /><Relationship Type="http://schemas.openxmlformats.org/officeDocument/2006/relationships/slide" Target="/ppt/slides/slide4.xml" Id="Rd42e7225881047dd" /><Relationship Type="http://schemas.openxmlformats.org/officeDocument/2006/relationships/slide" Target="/ppt/slides/slide5.xml" Id="R9b9d34ab371b45cb" /><Relationship Type="http://schemas.openxmlformats.org/officeDocument/2006/relationships/slide" Target="/ppt/slides/slide6.xml" Id="Racc5a1b9b54a407d" /><Relationship Type="http://schemas.openxmlformats.org/officeDocument/2006/relationships/slide" Target="/ppt/slides/slide7.xml" Id="R7830daedb3d14335" /><Relationship Type="http://schemas.openxmlformats.org/officeDocument/2006/relationships/slide" Target="/ppt/slides/slide8.xml" Id="R6b3dd4883e714e77" /><Relationship Type="http://schemas.openxmlformats.org/officeDocument/2006/relationships/slide" Target="/ppt/slides/slide9.xml" Id="R219ddfd7b0094b68" /><Relationship Type="http://schemas.openxmlformats.org/officeDocument/2006/relationships/slide" Target="/ppt/slides/slide10.xml" Id="R5ed931175d8a4c08" /><Relationship Type="http://schemas.openxmlformats.org/officeDocument/2006/relationships/slide" Target="/ppt/slides/slide11.xml" Id="R5a87553d089f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bad6e1a8fb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57a3899ea485a" /><Relationship Type="http://schemas.openxmlformats.org/officeDocument/2006/relationships/notesMaster" Target="/ppt/notesMasters/notesMaster1.xml" Id="Ra1990739064f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9a075ea40f40e9" /><Relationship Type="http://schemas.openxmlformats.org/officeDocument/2006/relationships/notesMaster" Target="/ppt/notesMasters/notesMaster1.xml" Id="R6e5ada9527b0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4961d31d8740ce" /><Relationship Type="http://schemas.openxmlformats.org/officeDocument/2006/relationships/notesMaster" Target="/ppt/notesMasters/notesMaster1.xml" Id="R664e210847bc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5b72d5e4841b7" /><Relationship Type="http://schemas.openxmlformats.org/officeDocument/2006/relationships/notesMaster" Target="/ppt/notesMasters/notesMaster1.xml" Id="Ref59f25c1be9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b548dd0dd9487c" /><Relationship Type="http://schemas.openxmlformats.org/officeDocument/2006/relationships/notesMaster" Target="/ppt/notesMasters/notesMaster1.xml" Id="R592cad73d86d4a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76f5394171499b" /><Relationship Type="http://schemas.openxmlformats.org/officeDocument/2006/relationships/notesMaster" Target="/ppt/notesMasters/notesMaster1.xml" Id="R202a4de02312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7c31ed5c754a20" /><Relationship Type="http://schemas.openxmlformats.org/officeDocument/2006/relationships/notesMaster" Target="/ppt/notesMasters/notesMaster1.xml" Id="R10ec12a263d2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7e76dd08c445f" /><Relationship Type="http://schemas.openxmlformats.org/officeDocument/2006/relationships/notesMaster" Target="/ppt/notesMasters/notesMaster1.xml" Id="Rf98c425790934b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4e1845f5aa478f" /><Relationship Type="http://schemas.openxmlformats.org/officeDocument/2006/relationships/notesMaster" Target="/ppt/notesMasters/notesMaster1.xml" Id="R2f94ec8febcd4d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383b49910645c3" /><Relationship Type="http://schemas.openxmlformats.org/officeDocument/2006/relationships/notesMaster" Target="/ppt/notesMasters/notesMaster1.xml" Id="R955b5283ea1e43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cb5a4527a24db4" /><Relationship Type="http://schemas.openxmlformats.org/officeDocument/2006/relationships/notesMaster" Target="/ppt/notesMasters/notesMaster1.xml" Id="R6c91f924b3e8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  <a:p xmlns:a="http://schemas.openxmlformats.org/drawingml/2006/main">
            <a:r>
              <a:t>- /Users/calin/Desktop/AI Agent/AI 行研案例.pptx（行业方法与案例）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480ed0f2c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2e44e52374248" /><Relationship Type="http://schemas.openxmlformats.org/officeDocument/2006/relationships/slideLayout" Target="/ppt/slideLayouts/slideLayout1.xml" Id="Rab83556daf82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3556daf82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f224e626489f" /><Relationship Type="http://schemas.openxmlformats.org/officeDocument/2006/relationships/notesSlide" Target="/ppt/notesSlides/notesSlide1.xml" Id="R266adc665e3249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bb30beae14f84" /><Relationship Type="http://schemas.openxmlformats.org/officeDocument/2006/relationships/notesSlide" Target="/ppt/notesSlides/notesSlide2.xml" Id="Re8c7546db19d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ac1619b8b4b20" /><Relationship Type="http://schemas.openxmlformats.org/officeDocument/2006/relationships/notesSlide" Target="/ppt/notesSlides/notesSlide3.xml" Id="R7e6d2e9065f243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075c72f14fb2" /><Relationship Type="http://schemas.openxmlformats.org/officeDocument/2006/relationships/notesSlide" Target="/ppt/notesSlides/notesSlide4.xml" Id="R958c0e61a932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239aff194c6d" /><Relationship Type="http://schemas.openxmlformats.org/officeDocument/2006/relationships/notesSlide" Target="/ppt/notesSlides/notesSlide5.xml" Id="Ra93b113b30c244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78089353e44e2" /><Relationship Type="http://schemas.openxmlformats.org/officeDocument/2006/relationships/notesSlide" Target="/ppt/notesSlides/notesSlide6.xml" Id="Rec7b13bb16304d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89bd1f8a4c36" /><Relationship Type="http://schemas.openxmlformats.org/officeDocument/2006/relationships/notesSlide" Target="/ppt/notesSlides/notesSlide7.xml" Id="R61a21931eab5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6c0d3a0af4360" /><Relationship Type="http://schemas.openxmlformats.org/officeDocument/2006/relationships/notesSlide" Target="/ppt/notesSlides/notesSlide8.xml" Id="Red2ff94269084d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d3637528b4ae4" /><Relationship Type="http://schemas.openxmlformats.org/officeDocument/2006/relationships/notesSlide" Target="/ppt/notesSlides/notesSlide9.xml" Id="R75e63187e3bf4e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91b83a4f74d54" /><Relationship Type="http://schemas.openxmlformats.org/officeDocument/2006/relationships/notesSlide" Target="/ppt/notesSlides/notesSlide10.xml" Id="Rd0055436a47844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6bea78a014ad1" /><Relationship Type="http://schemas.openxmlformats.org/officeDocument/2006/relationships/notesSlide" Target="/ppt/notesSlides/notesSlide11.xml" Id="R856349696612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9BF64-D468-4045-90E5-870E26E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TRIDENT · SCENARIO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DCF07-C3A4-4AC2-A443-86FF0A7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191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企业增长决策工作场景流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81DE-9C3F-4CDC-AA30-3F34991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从主动诊断与企业画像，到定向机会研究、能力匹配、行动执行与持续复盘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AE4CF-BAEE-4838-BA84-2FFBE7D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121DE-D126-4DBD-A3EA-2C88A4C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Scenario Pack blueprint · growth_strategy@1.0.0</a:t>
            </a:r>
          </a:p>
        </p:txBody>
      </p:sp>
    </p:spTree>
    <p:extLst>
      <p:ext uri="{BB962C8B-B14F-4D97-AF65-F5344CB8AC3E}">
        <p14:creationId xmlns:p14="http://schemas.microsoft.com/office/powerpoint/2010/main" val="1854701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0175C-79C9-4D64-B669-2A2772C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SHARED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BBE62-6FD4-4B16-A1B2-E2AABF9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一个研究底座，三个可注册场景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3CB7B-FB90-469D-ADAB-A383815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D7645-F9EA-4AC7-9E10-519EA8B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EEA5B-31C4-419F-B175-DB1CC94F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9C5B-6A78-48B4-8A29-D3DDA68D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Research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D4430-90DF-4808-A3DB-1A66BA1B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定义方法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742A7-BBC3-4286-A329-A7B025C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边界 · 证据 · 测算 · 竞争 · 驱动 · Future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1F726-E046-4A26-B2CE-3E9A0DC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1E063-0891-460F-B240-E84655D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AE91B-2C41-4F06-A4F1-C23DF5B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Industry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5E663-D338-4510-9464-54069D0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定义行业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9605A-C71C-4C46-819B-8B0000E4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术语 · 分类树 · 数据源 · 指标 · 可比公司规则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1086D-F661-4DAB-963D-1CCEA2F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5632B-C1DB-4E5F-ABF5-A83F234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AC637-3D65-47C5-9AF8-5D77B08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Scenario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DE15A-8301-4B3B-8712-BAB4686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定义决策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6E192-726C-4E44-8EA2-6D92A25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访谈 · Workflow · Gate · 输出 · 评估 · UI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EF276-0164-483E-87D9-AEA7B5D4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1B21D-C578-4ACA-B3D8-F37389F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14A66-8372-43A0-8EA9-894AE1F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Enterprise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1C74F-4495-4AE0-BEF1-5569F96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定义对象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83603-9FD0-4720-9675-487A439F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企业/标的资料 · 权限 · 画像 · 历史判断 · KPI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23833-1F1F-45CF-BF97-17318DF2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场景新增 = 注册一个包；不复制 Research Core，也不新增 if / else 分支。</a:t>
            </a:r>
          </a:p>
        </p:txBody>
      </p:sp>
    </p:spTree>
    <p:extLst>
      <p:ext uri="{BB962C8B-B14F-4D97-AF65-F5344CB8AC3E}">
        <p14:creationId xmlns:p14="http://schemas.microsoft.com/office/powerpoint/2010/main" val="16036900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E0343-5A22-447F-A8B5-A86AAD3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CURRENT STATE VS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F5095-1943-4B3D-A5A4-5B750C7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现有能力可复用，但插件合同还不完整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E8136-4932-4B22-8A06-CEF000B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B6BD3-97EE-4468-A0B6-360082DB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3F726-DAD1-4CE5-AA3A-1EFDE722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仍需改进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5614D-FF86-4BB5-A096-1F98561D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6F764-E499-4ED6-BB7C-642B8B8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构建式 / 审阅式行业研究双路径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943D9-2A89-4237-AB06-D321DBB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285C8-0F6B-4F45-ADB9-97FFE877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Prompt Analysis、Gate 0/1/2 与证据矩阵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9AB69-8A64-47EC-BFAD-0404362A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4C720-E833-4EDC-A2BC-7FE66B8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行业定义、独立市场规模测算、竞争与驱动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08481-A489-446B-A010-751BAB6F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C25E4-F5EA-4E8F-8692-DBD101C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企业资料入口、Scorecard、Action Plan 基础服务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012FD-9881-4E91-9D40-38EDCF5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E7859-31D5-4D62-AFA9-33E4F250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版本化 Extension Registry 与场景说明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8CA42-5064-44A7-8314-CFE8CCB7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00ECC-0126-457C-9B49-C45B6114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把 pe_vc 拆为 pe 与 vc 两个独立包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4365B-C5D8-4ED4-B589-96028CB0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28FF3-6BC2-4FF9-8DD8-9198FF2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补齐 input / workflow / evidence / gate / output / UI 契约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8BE4D-FBE1-4D73-B526-03CB786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49563-154F-4C4A-8E0E-8A73511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 访谈引擎按场景包动态生成问题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E6A15-6007-41D0-BA11-27F4AC1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D1B53-7EB5-4EF9-A9D5-4B6B527D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持续感知订阅映射到假设、评分与行动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2B0F1-725E-41A6-A2D4-D705FFC9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AE1F3-F390-4BC5-933D-0C1CBB9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10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Portfolio / 长期记忆从聊天升级为结构化对象</a:t>
            </a:r>
          </a:p>
        </p:txBody>
      </p:sp>
    </p:spTree>
    <p:extLst>
      <p:ext uri="{BB962C8B-B14F-4D97-AF65-F5344CB8AC3E}">
        <p14:creationId xmlns:p14="http://schemas.microsoft.com/office/powerpoint/2010/main" val="1079541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6B0F6-8F2F-4D67-A039-828F9B9F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SCENARIO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C6053-4257-4F8C-A155-3414C09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growth_strategy@1.0.0 场景包是可执行合同，不是 Prompt 文件夹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57EE7-FFCE-40B3-8B23-E544A3F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2BC0-7E35-407A-8C57-90A6D8F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manifest.yaml</a:t>
            </a:r>
          </a:p>
        </p:txBody>
      </p:sp>
      <p:cxnSp>
        <p:nvCxnSpPr>
          <p:cNvPr id="116" name=""/>
          <p:cNvCxnSpPr/>
          <p:nvPr/>
        </p:nvCxnSpPr>
        <p:spPr>
          <a:xfrm xmlns:a="http://schemas.openxmlformats.org/drawingml/2006/main">
            <a:off x="4572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EE289-61D3-4D8C-A1D5-BB38C086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ID · 版本 · 能力 · 依赖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74102-F31E-40E0-81D7-393A5BAD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input_schema</a:t>
            </a:r>
          </a:p>
        </p:txBody>
      </p:sp>
      <p:cxnSp>
        <p:nvCxnSpPr>
          <p:cNvPr id="119" name=""/>
          <p:cNvCxnSpPr/>
          <p:nvPr/>
        </p:nvCxnSpPr>
        <p:spPr>
          <a:xfrm xmlns:a="http://schemas.openxmlformats.org/drawingml/2006/main">
            <a:off x="32766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967F8-3074-43FE-8FDB-99989E23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必填 / 可选输入与敏感级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5E406-A574-4895-913A-0900C23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workflow.yaml</a:t>
            </a:r>
          </a:p>
        </p:txBody>
      </p:sp>
      <p:cxnSp>
        <p:nvCxnSpPr>
          <p:cNvPr id="122" name=""/>
          <p:cNvCxnSpPr/>
          <p:nvPr/>
        </p:nvCxnSpPr>
        <p:spPr>
          <a:xfrm xmlns:a="http://schemas.openxmlformats.org/drawingml/2006/main">
            <a:off x="60960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BF037-8F6E-4833-8FA8-FB03142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阶段、状态、失败恢复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E053F-85B2-4C98-8FBE-54F6311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interview_policy</a:t>
            </a:r>
          </a:p>
        </p:txBody>
      </p:sp>
      <p:cxnSp>
        <p:nvCxnSpPr>
          <p:cNvPr id="125" name=""/>
          <p:cNvCxnSpPr/>
          <p:nvPr/>
        </p:nvCxnSpPr>
        <p:spPr>
          <a:xfrm xmlns:a="http://schemas.openxmlformats.org/drawingml/2006/main">
            <a:off x="89154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1855A-9980-41BA-8E83-BBE0D334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角色、动态问题、停止条件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65C16-6DB5-4C41-B98B-1DBB958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evidence_policy</a:t>
            </a:r>
          </a:p>
        </p:txBody>
      </p:sp>
      <p:cxnSp>
        <p:nvCxnSpPr>
          <p:cNvPr id="128" name=""/>
          <p:cNvCxnSpPr/>
          <p:nvPr/>
        </p:nvCxnSpPr>
        <p:spPr>
          <a:xfrm xmlns:a="http://schemas.openxmlformats.org/drawingml/2006/main">
            <a:off x="4572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39785-2AC7-4509-AD19-C98E6A8D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来源、交叉验证、置信度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64C9F-EADA-4E10-B630-01056F11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review_gates</a:t>
            </a:r>
          </a:p>
        </p:txBody>
      </p:sp>
      <p:cxnSp>
        <p:nvCxnSpPr>
          <p:cNvPr id="131" name=""/>
          <p:cNvCxnSpPr/>
          <p:nvPr/>
        </p:nvCxnSpPr>
        <p:spPr>
          <a:xfrm xmlns:a="http://schemas.openxmlformats.org/drawingml/2006/main">
            <a:off x="32766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121FF-87C8-47BA-B632-AEA9C47B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人工批准、回退与例外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2A45E-B7A0-4AB2-A900-D3744B9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output_schema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60960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60A97-2425-4675-9BA7-7E9C82A4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产物、Portfolio 与 Memory 投影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05092-59A3-4C0F-98B4-B9A47775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ui_schema.json</a:t>
            </a:r>
          </a:p>
        </p:txBody>
      </p:sp>
      <p:cxnSp>
        <p:nvCxnSpPr>
          <p:cNvPr id="137" name=""/>
          <p:cNvCxnSpPr/>
          <p:nvPr/>
        </p:nvCxnSpPr>
        <p:spPr>
          <a:xfrm xmlns:a="http://schemas.openxmlformats.org/drawingml/2006/main">
            <a:off x="89154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D4512-315F-4B0F-9C26-4D66FBEE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页面字段、组件与权限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117B08-32E5-4675-ACD3-FAEB003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运行时只读取合同 → 组合 Research Core → 生成 Company Scorecard 与 Adaptive Action Plan → 保存可审计状态。</a:t>
            </a:r>
          </a:p>
        </p:txBody>
      </p:sp>
    </p:spTree>
    <p:extLst>
      <p:ext uri="{BB962C8B-B14F-4D97-AF65-F5344CB8AC3E}">
        <p14:creationId xmlns:p14="http://schemas.microsoft.com/office/powerpoint/2010/main" val="302166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25595B-AF58-4B8D-A9BB-CB7E7F8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D7BCA-1F57-43C3-BEC5-4F14015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企业增长场景把研究收敛为可验证的增长机会与行动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B13A2-19C6-40CC-AFA0-F90D8DB3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762000" y="310515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5F17C-31D5-4987-943F-333EE3A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A884-A416-455F-AD69-A1F8D3E9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5E082-4054-4194-8CCB-A846877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目标与画像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7C467-0255-4995-99D4-1D41E59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选择第二增长曲线或生存型增长，访谈并接入企业资料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EAAD4-B9B5-4B3B-AB5E-95FC1DC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Growth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F2C15-FE1E-49CB-B081-E80410C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E7C8F-D71A-47B8-9C4A-BEA4BBC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04FD3-7916-402C-8A5D-AFCA190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双曲线机会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25DC7-A5CC-43E8-99BF-A6A2DCE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第一曲线看产品×场景；第二曲线看能力×高增长下游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93038-2839-4A07-A074-6ED2F8DB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5 条机会地图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F3F27-5693-4128-B321-166AD5A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78D08-C63A-4D7D-9D37-BD6B8EB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38BF3-C62A-4A4C-B9DA-57168F3B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机会评分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29498-06B0-45E5-8BF9-D921C548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机会吸引力 × 场景适配 × 买家采用 × 资源风险，收敛≤3条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1EEFB-7C4B-4888-8D3F-8AE53048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Opportunity Scorecard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9B711-D7D4-4CDC-91F3-B8B4D37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1ECE0-63DC-447F-8F17-177E4CF6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71F4D-1FB3-4212-86E7-837D201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行动计划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C6AE5-EB79-4062-88D4-86682A23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仅为最终1–2条机会生成客户验证、责任人、KPI与停止条件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E93CA-3AFB-4F3E-AF20-36E3CB96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1–2 Action Plans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C34E6-F218-458F-B2B1-8B44130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4B35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0672F-B8EB-4C12-B4D6-A1232900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DF05D7-D82E-4DFA-AC85-C3DC50B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943100"/>
            <a:ext cx="83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反馈复盘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E717D-5A6A-41AA-9CDC-9349933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24250"/>
            <a:ext cx="838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经营反馈触发机会与行动重排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70668-41E8-4D95-9831-C909E614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62500"/>
            <a:ext cx="83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动态复盘</a:t>
            </a:r>
          </a:p>
        </p:txBody>
      </p:sp>
    </p:spTree>
    <p:extLst>
      <p:ext uri="{BB962C8B-B14F-4D97-AF65-F5344CB8AC3E}">
        <p14:creationId xmlns:p14="http://schemas.microsoft.com/office/powerpoint/2010/main" val="2556269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3F6C8-B0F1-4DA2-8A12-3FA44ED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DIAGNOSTIC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631F0-107B-42C5-8B84-F2AE58B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咨询访谈先形成决策画像，再启动专业研究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68800-CD1A-4FCD-93AD-6C4DB1C6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F14A-2CB5-4678-925E-F53CEA3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823DD-DC2E-462C-8CAA-9A4F3485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问题路由输入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D49C7-839D-4F06-93F0-2AF4A87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9DE8-C873-41AC-A237-DE141DD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增长类型、收入 / 利润目标与时间边界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D0F8C-C700-4C64-9474-90E52548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7643A-58ED-40EE-B6AB-4B3FEE5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销售、订单、客户、渠道与产品情况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8237F-5786-480F-B2B8-287BE682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A430A-5A58-4DDC-884A-BDB4E0A0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资源、组织、预算和管理层约束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2AD3F-68AB-4E74-89BD-9987465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4B652-686E-46ED-B51A-B1C1D3D2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数字化资料或管理层口述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9B473-AA6C-4E8C-B0B9-9B99F04D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2F049-56B6-41AE-BD5A-A276AAA9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历史决策、执行偏差与失败条件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52B21-F6B0-47F7-A35B-CA65706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5B538-1FC3-4209-8DBD-3091A86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结构化输出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4A9BE-2AD5-40D9-A80D-F224934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15500-739C-4D1C-948F-8570455B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Growth Objective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8FFF9-1DE2-46CB-87B4-966302F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96D16-0E7C-469B-BA0D-DB1852C8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企业经营与管理层 Decision 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FB8F9-B793-4656-A9CF-B8801403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3EED2-53C2-4B23-9F6D-5AB3327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企业长期 Portfolio / Enterprise Pack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7777A-698A-4B4B-BA06-B7061EA4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FC383-5588-4C48-9E96-12E510E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增长问题树与待验证假设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F916F-E1E5-4642-9CD4-6C8AB262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C730D-89C1-4702-BD20-D2C06D8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资料完整度、置信度和研究任务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FA0DC-1C0D-47B8-AB35-8756FE3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访谈问题由目标、已上传资料、既有记忆、当前缺口和后续评分需求共同决定；不是固定问卷。</a:t>
            </a:r>
          </a:p>
        </p:txBody>
      </p:sp>
    </p:spTree>
    <p:extLst>
      <p:ext uri="{BB962C8B-B14F-4D97-AF65-F5344CB8AC3E}">
        <p14:creationId xmlns:p14="http://schemas.microsoft.com/office/powerpoint/2010/main" val="15397095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95D46-3898-4C75-95E9-435FB2E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RESEARCH CORE EMBEDDING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9F865-6D98-435A-BF4D-CE54D69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共享行业研究只做与场景决策有关的部分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2D307-4B1E-479B-89C3-AF3E23A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BFDC-ABE4-4AC3-8763-8445DF14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8B807-9A25-46D3-94BC-304B3EA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市场边界与赛道树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7E928-9930-4510-8A27-ABAB3FC9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A5AD3-E4E7-4149-ACA0-B40C439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54793-F81C-4FD6-B1A9-D8319F41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独立市场规模测算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859E5-0D4C-4586-AF6F-C680CE7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9186F-CF85-4622-9F1B-BF93FCD1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9A9B1-30EE-498A-8623-724A0554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产业链与价值池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DEED3-9044-44D8-8970-0FF59E9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E956A-BE4C-47BA-997F-DECE1C4B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9F17C-51E9-4B69-AAAE-4A70649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竞争格局与可比对象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60F28-D89F-4A4A-AF2B-4E52535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80C6E-B142-46D9-99FD-5D8891C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7FA35-3A88-4B8A-9B0A-D61AAF9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驱动 / 制约 / Future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AC6DF-F5AB-437D-B85E-2E570ED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场景过滤器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532B2-13F3-4267-89F1-9325D3D7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不生成泛化行业报告，只研究与增长目标有关的下游应用、客户需求、市场吸引力、竞争进入条件、政策与关键风险；规模必须独立测算。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B952B-4FB9-4FBD-9F70-E08A5B22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CFE3C-FDC7-4952-A688-0FA830D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Core 输出进入场景判断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D4252-A9AB-418D-B91D-AAA5746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76700"/>
            <a:ext cx="4895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候选下游应用、可服务市场、客户采用机制、竞争进入门槛、关键能力要求、五条机会地图与需验证假设。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587C4-F54B-4E0B-AF65-03E3207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 0 锁边界 · Gate 1 审证据 · Gate 2 审判断；场景包只能加严，不能绕过。</a:t>
            </a:r>
          </a:p>
        </p:txBody>
      </p:sp>
    </p:spTree>
    <p:extLst>
      <p:ext uri="{BB962C8B-B14F-4D97-AF65-F5344CB8AC3E}">
        <p14:creationId xmlns:p14="http://schemas.microsoft.com/office/powerpoint/2010/main" val="12165635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A2567-DCC9-4D64-A75A-4254D07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7B32-8987-4074-B7D8-B7DDF6B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增长决策先以机会为单元评分，再为1–2条路径生成行动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55AB3-9554-482F-B53F-162EBAA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F60E2-34AD-49B2-A271-AD75982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DB5F-CC65-498F-B4B1-F55D12F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双增长曲线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A6812-5BDD-4FFF-823C-DF5C518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第一曲线看产品×场景；第二曲线看能力×下游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41743-5711-4CE7-B612-69010308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5 条候选机会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57200" y="24955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E1651-CDF2-4B1D-BAFF-1DCE912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976C6-6D91-4CBD-93F4-3C28D4E7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客户与进入验证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D71F4-3A99-4D73-94B4-F2037D5A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买家门槛、采购链、单位经济性、渠道与30天验证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CCA87-057D-4886-884A-59F0CF5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最多 3 条战略路径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57200" y="34861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D409C-A072-4A17-A8B9-28BF9E49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5A07A-1FFD-4AAC-947D-37EE362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机会评分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02A28-55E8-4C3C-9831-3FE7A71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现状 × 市场平均 × 战略门槛，附证据与置信度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F6B10-7C2A-4551-BBA9-F4A3F0E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≤3条战略优先级</a:t>
            </a:r>
          </a:p>
        </p:txBody>
      </p:sp>
      <p:cxnSp>
        <p:nvCxnSpPr>
          <p:cNvPr id="99" name=""/>
          <p:cNvCxnSpPr/>
          <p:nvPr/>
        </p:nvCxnSpPr>
        <p:spPr>
          <a:xfrm xmlns:a="http://schemas.openxmlformats.org/drawingml/2006/main">
            <a:off x="457200" y="44767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F7549-BB11-4E88-8B42-A04EE66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E0E98-3935-4228-B22D-01BF382E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1–2个行动计划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9FCFB-E847-4447-8D88-DE576174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责任人、资源、客户验证、领先/结果KPI与停止条件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683D6-5C11-4BBF-ACE2-5DA497D6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反馈驱动 Adaptive Plan</a:t>
            </a:r>
          </a:p>
        </p:txBody>
      </p:sp>
    </p:spTree>
    <p:extLst>
      <p:ext uri="{BB962C8B-B14F-4D97-AF65-F5344CB8AC3E}">
        <p14:creationId xmlns:p14="http://schemas.microsoft.com/office/powerpoint/2010/main" val="15063812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17C58-6915-44BC-A6E6-36D3739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ACTION FEEDBACK &amp; SELF-EVOLUTION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CE0C-E900-4E87-AF1C-3DE5E47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行动反馈与自进化：场景内的后决策闭环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D1D7-AFCC-48AA-A9A5-588A03B1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8261-D87E-4092-8B12-127400E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F463-02B7-4F4F-8285-69D0BC9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计划发布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067A5-BFCD-4F7F-ACE7-A70CC111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1E95B-2993-4B73-8C79-29F70A2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96725-27C5-4BA2-9362-1CC1FB6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进度反馈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D1110-4CAC-46CD-BEDF-ED9F9A1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12765-6C09-44E0-9951-D69C5A0C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08252-D9EB-456D-A0DC-97C46B2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效果/客户反馈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7A710-5C45-4C8F-8D2F-A5D60133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876F2-169C-465A-877E-90925E1D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CBAC5-BA7D-4FAC-AE59-BA4ECC8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偏差诊断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7ECE8-567D-401E-9C73-7F427B20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16F99-CF19-44E7-81C4-72A28D2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73442-ABAC-4BAB-9738-4A69C4E5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动态调案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6BC42-C6A0-4337-A63E-07F4E9F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5E6A0-917B-4D53-A6B3-267C78AB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693C5-C9B5-406D-B923-066C32E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92A83-0653-47A0-A1E6-7F72480E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企业增长闭环：战略 → Action Plan → 经营反馈 → 动态调整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4A352-3AE7-4991-8243-E9DFD36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476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战略目标、Action Plan、负责人和基线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进度、销售/利润/KPI 与完成证据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客户、渠道、一线团队反馈与阻塞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偏差归因：战略假设 / 计划设计 / 执行 / 外部变化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提出 Plan v+1，管理层确认后进入下一周期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94BF4-AC3A-4573-848B-06D6C3AC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企业 / 标的知识库写回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D1191-5246-4779-8E48-50FC37E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事实层：进度、KPI、结果与外部信号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决策层：原始假设、选择理由与版本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行动层：责任人、反馈、阻塞与调整记录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学习层：有效模式、失败原因与可复用规则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668EE-214D-4229-B989-1FC3095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只提出调整方案，不静默覆盖：旧版本、依据、反馈和审批均可追溯；接口预留给未来完善版工作流。</a:t>
            </a:r>
          </a:p>
        </p:txBody>
      </p:sp>
    </p:spTree>
    <p:extLst>
      <p:ext uri="{BB962C8B-B14F-4D97-AF65-F5344CB8AC3E}">
        <p14:creationId xmlns:p14="http://schemas.microsoft.com/office/powerpoint/2010/main" val="16585182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2F9C0F-8B72-4E0B-B46B-AA1CACF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DECISION &amp; ACTION QUALITY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7436-EFD2-47FE-8DFD-76A6251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用同一套反馈数据区分：决策是否正确、行动设计是否合理、执行是否到位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F9887-92F4-4540-8846-0F0D48C7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3AFA2-C575-4F23-B97D-7A7FFDD6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2237-F02E-44D3-9B22-2F02AD30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质量维度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3308F-084F-49F9-AE9C-719FD94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45D3C-0F3F-464C-B760-C28FADB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关键指标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9072E-C6E9-43CF-9651-6F900546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A488E-6A30-46C8-8E5A-9C85E8B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764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诊断问题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0189D-5879-40AB-8D54-711D8B2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B7B1D-F286-4137-BDD3-49485808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764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C622E-2769-4118-B709-CD0F5F0D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9A635-A2AD-4231-9127-4766582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决策质量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EB49D-256B-4E5A-860D-57A2242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28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648FA-3DF0-4697-B951-C86CF5D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增长假设命中率、目标预测偏差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A7188-7AF7-4AC9-A41D-5573C0D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71C22-7DC1-4D35-B869-CEBDD1AA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战略选择是否正确？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A8FF5-8E5B-4564-A7C7-3E9091F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3526-B931-4151-A35C-3DECA9E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4B35"/>
                </a:solidFill>
                <a:latin typeface="Arial"/>
                <a:ea typeface="Arial"/>
                <a:cs typeface="Arial"/>
              </a:rPr>
              <a:t>校准战略判断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0FB6C-DFD7-4DD7-98FA-4663B23B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52F73-056B-4FAC-8295-A375A4D9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5DEF5-6952-48D5-9EDD-CD2F142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9F723-455E-41B3-ADB3-A2120B5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行动按期率、KPI 达成率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2E6DE-A56F-40EA-9426-6BA16234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44373-091A-41E7-9AD9-5E7D245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Action Plan 是否可执行？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D9084C-194B-4160-B946-F51DA0D3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08488-390F-4571-8436-7DDE373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4B35"/>
                </a:solidFill>
                <a:latin typeface="Arial"/>
                <a:ea typeface="Arial"/>
                <a:cs typeface="Arial"/>
              </a:rPr>
              <a:t>调整动作与资源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8A266-B5C1-42E6-89A8-AA1FB4D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02243-438B-4D62-8642-8A81720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执行质量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8D1F2-9FD6-4088-976A-DD21A87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147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C6110-DB0F-4CCD-88AF-F805980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481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阻塞、责任人、一线反馈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C13D9-C597-418A-8BC7-D746E45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92D88-B9F7-47C3-8F72-8A955985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组织是否执行到位？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87F471-F62B-4F6D-A25A-059AD24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B79B7-2A46-4F27-9366-4B3DD2A4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4B35"/>
                </a:solidFill>
                <a:latin typeface="Arial"/>
                <a:ea typeface="Arial"/>
                <a:cs typeface="Arial"/>
              </a:rPr>
              <a:t>重排优先级与支持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E2CADD-5B78-4C79-895E-79D2589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3E2C86-411B-415D-8F05-A937257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客户/市场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91D977-599F-4E01-B5F5-0BF3C79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AB5B15-F3C4-4202-A1E6-A6353AF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客户反馈、订单、渠道采用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8C2DAC-F962-425C-834A-EAB0C110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4C76D9-B923-407F-A1A1-C4B52D3D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市场响应是否符合预期？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14FE0C-1DD8-4FC8-B933-9E785CA7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577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7C5DA4-E037-4834-AF30-A27C29E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4B35"/>
                </a:solidFill>
                <a:latin typeface="Arial"/>
                <a:ea typeface="Arial"/>
                <a:cs typeface="Arial"/>
              </a:rPr>
              <a:t>调整产品/渠道策略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939C05-B9F0-4EB0-A61B-3D1E2AD2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065CC1-80AA-42B4-83A2-4E13E97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学习质量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4F2D55-A81D-4AE0-8B03-2CFC3F4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B5842B-C533-4152-B25A-44E05B41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反馈完整度、调整时延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447394-1011-40BB-B11A-3AF35A16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00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E05211-A230-4DA1-AEC5-46F1C49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是否减少重复错误？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134510-D5FC-4534-8921-2482F6C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006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EFD885-D6FE-40B7-A03B-82AAFDF8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4B35"/>
                </a:solidFill>
                <a:latin typeface="Arial"/>
                <a:ea typeface="Arial"/>
                <a:cs typeface="Arial"/>
              </a:rPr>
              <a:t>写入企业决策库</a:t>
            </a:r>
          </a:p>
        </p:txBody>
      </p:sp>
    </p:spTree>
    <p:extLst>
      <p:ext uri="{BB962C8B-B14F-4D97-AF65-F5344CB8AC3E}">
        <p14:creationId xmlns:p14="http://schemas.microsoft.com/office/powerpoint/2010/main" val="9243883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A9E9F-7A1F-4BF5-973D-CB0D0B8D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EXTENSION CONTRACT &amp; BUILD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F713-5ADE-4948-98B2-E1474334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5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Growth Pack预留战略Skill接口，同时锁定证据、审核、版本与反馈规则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57062-347B-4AD3-8523-5AEFE9F2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3CDBE-DD77-4B1A-8CD6-81BE94F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6633-3F1D-48F9-A674-C83CCCCF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策略Skill插槽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2EB87-63A5-4255-B8D9-E518D3EA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growth_strategy_method可替换机会评分、优先级、能力匹配与行动排序。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283845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B3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A3385-C835-4E0A-A21A-B9E4464C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AEA5D-0DA0-430D-B4ED-CFA07B6E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受保护不变量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70CDD-8353-4382-B2C4-9B37D3B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证据可追溯、人工审核、版本历史与反馈写回不能被Skill覆盖。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56260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B3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08722-115F-4493-B4BE-E18D331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DD73A-8CBA-41D5-B4D9-A1EE185E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双曲线方法口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69B20-38E2-410E-A54F-278B46A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后续Skill可分别优化产品×场景和能力×下游的评分及收敛逻辑。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828675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4B35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E0241-D47F-4813-9CAE-6E3954A3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C38D1-80BD-4E7D-966E-BDC85BDE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版本化应用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7B848-A148-4CD5-823B-35BC7D61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批准后的 Plan v+1 写回企业知识库，并驱动决策与行动质量 Dashboard。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B5BCD-F361-4EA4-B4EB-F54A07B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E94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4B66F-7092-4574-BD1C-772A228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验收：策略方法可替换，但Research Core治理、人工批准与历史版本始终可追溯。</a:t>
            </a:r>
          </a:p>
        </p:txBody>
      </p:sp>
    </p:spTree>
    <p:extLst>
      <p:ext uri="{BB962C8B-B14F-4D97-AF65-F5344CB8AC3E}">
        <p14:creationId xmlns:p14="http://schemas.microsoft.com/office/powerpoint/2010/main" val="213345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2026-08-21T10:55:59.8100000Z</dcterms:created>
  <dcterms:modified xsi:type="dcterms:W3CDTF">2026-08-21T10:55:59.8100000Z</dcterms:modified>
</coreProperties>
</file>