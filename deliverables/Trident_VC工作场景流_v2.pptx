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b1f9020b1410a" /><Relationship Type="http://schemas.openxmlformats.org/officeDocument/2006/relationships/extended-properties" Target="/docProps/app.xml" Id="Rc8aa54cc71e44a60" /><Relationship Type="http://schemas.openxmlformats.org/officeDocument/2006/relationships/officeDocument" Target="/ppt/presentation.xml" Id="Rfabf3a6b68d042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6433af93a416b"/>
  </p:sldMasterIdLst>
  <p:notesMasterIdLst>
    <p:notesMasterId xmlns:r="http://schemas.openxmlformats.org/officeDocument/2006/relationships" r:id="Rfeb06761388b460a"/>
  </p:notesMasterIdLst>
  <p:sldIdLst>
    <p:sldId xmlns:r="http://schemas.openxmlformats.org/officeDocument/2006/relationships" id="256" r:id="R450089a39a9c421a"/>
    <p:sldId xmlns:r="http://schemas.openxmlformats.org/officeDocument/2006/relationships" id="257" r:id="R5b6f68c2a79740a8"/>
    <p:sldId xmlns:r="http://schemas.openxmlformats.org/officeDocument/2006/relationships" id="258" r:id="Rcd4105a30d1e44a0"/>
    <p:sldId xmlns:r="http://schemas.openxmlformats.org/officeDocument/2006/relationships" id="259" r:id="Re00f30b3ad3c41e0"/>
    <p:sldId xmlns:r="http://schemas.openxmlformats.org/officeDocument/2006/relationships" id="260" r:id="Rfc0b72ebc4a047f7"/>
    <p:sldId xmlns:r="http://schemas.openxmlformats.org/officeDocument/2006/relationships" id="261" r:id="R55fb653fd32a4497"/>
    <p:sldId xmlns:r="http://schemas.openxmlformats.org/officeDocument/2006/relationships" id="262" r:id="R9f5c2a5b109948e9"/>
    <p:sldId xmlns:r="http://schemas.openxmlformats.org/officeDocument/2006/relationships" id="263" r:id="R0e42d786b8804cab"/>
    <p:sldId xmlns:r="http://schemas.openxmlformats.org/officeDocument/2006/relationships" id="264" r:id="Rcaa50a4df34e4533"/>
    <p:sldId xmlns:r="http://schemas.openxmlformats.org/officeDocument/2006/relationships" id="265" r:id="R2b73472b35ae4b29"/>
    <p:sldId xmlns:r="http://schemas.openxmlformats.org/officeDocument/2006/relationships" id="266" r:id="R5266ca12518041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a3f2ccbfa844fc" /><Relationship Type="http://schemas.openxmlformats.org/officeDocument/2006/relationships/slideMaster" Target="/ppt/slideMasters/slideMaster1.xml" Id="R00d6433af93a416b" /><Relationship Type="http://schemas.openxmlformats.org/officeDocument/2006/relationships/notesMaster" Target="/ppt/notesMasters/notesMaster1.xml" Id="Rfeb06761388b460a" /><Relationship Type="http://schemas.openxmlformats.org/officeDocument/2006/relationships/presProps" Target="/ppt/presProps.xml" Id="Rf62dfe7a125e4a90" /><Relationship Type="http://schemas.openxmlformats.org/officeDocument/2006/relationships/tableStyles" Target="/ppt/tableStyles.xml" Id="R61617ec32e8548ee" /><Relationship Type="http://schemas.openxmlformats.org/officeDocument/2006/relationships/slide" Target="/ppt/slides/slide1.xml" Id="R450089a39a9c421a" /><Relationship Type="http://schemas.openxmlformats.org/officeDocument/2006/relationships/slide" Target="/ppt/slides/slide2.xml" Id="R5b6f68c2a79740a8" /><Relationship Type="http://schemas.openxmlformats.org/officeDocument/2006/relationships/slide" Target="/ppt/slides/slide3.xml" Id="Rcd4105a30d1e44a0" /><Relationship Type="http://schemas.openxmlformats.org/officeDocument/2006/relationships/slide" Target="/ppt/slides/slide4.xml" Id="Re00f30b3ad3c41e0" /><Relationship Type="http://schemas.openxmlformats.org/officeDocument/2006/relationships/slide" Target="/ppt/slides/slide5.xml" Id="Rfc0b72ebc4a047f7" /><Relationship Type="http://schemas.openxmlformats.org/officeDocument/2006/relationships/slide" Target="/ppt/slides/slide6.xml" Id="R55fb653fd32a4497" /><Relationship Type="http://schemas.openxmlformats.org/officeDocument/2006/relationships/slide" Target="/ppt/slides/slide7.xml" Id="R9f5c2a5b109948e9" /><Relationship Type="http://schemas.openxmlformats.org/officeDocument/2006/relationships/slide" Target="/ppt/slides/slide8.xml" Id="R0e42d786b8804cab" /><Relationship Type="http://schemas.openxmlformats.org/officeDocument/2006/relationships/slide" Target="/ppt/slides/slide9.xml" Id="Rcaa50a4df34e4533" /><Relationship Type="http://schemas.openxmlformats.org/officeDocument/2006/relationships/slide" Target="/ppt/slides/slide10.xml" Id="R2b73472b35ae4b29" /><Relationship Type="http://schemas.openxmlformats.org/officeDocument/2006/relationships/slide" Target="/ppt/slides/slide11.xml" Id="R5266ca12518041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ddbbb94dc2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0085d0fc2e4f79" /><Relationship Type="http://schemas.openxmlformats.org/officeDocument/2006/relationships/notesMaster" Target="/ppt/notesMasters/notesMaster1.xml" Id="R1922283a23c04d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5190ae3cb425c" /><Relationship Type="http://schemas.openxmlformats.org/officeDocument/2006/relationships/notesMaster" Target="/ppt/notesMasters/notesMaster1.xml" Id="R468c28eb8609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5406e932064552" /><Relationship Type="http://schemas.openxmlformats.org/officeDocument/2006/relationships/notesMaster" Target="/ppt/notesMasters/notesMaster1.xml" Id="R99b7504dcac34c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c6dbfce184450c" /><Relationship Type="http://schemas.openxmlformats.org/officeDocument/2006/relationships/notesMaster" Target="/ppt/notesMasters/notesMaster1.xml" Id="Rcf71c7271db346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22cc36d6d4507" /><Relationship Type="http://schemas.openxmlformats.org/officeDocument/2006/relationships/notesMaster" Target="/ppt/notesMasters/notesMaster1.xml" Id="R4acd6ac0a6be41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06a122e144def" /><Relationship Type="http://schemas.openxmlformats.org/officeDocument/2006/relationships/notesMaster" Target="/ppt/notesMasters/notesMaster1.xml" Id="R3f9759e01a7e47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12fce930b4772" /><Relationship Type="http://schemas.openxmlformats.org/officeDocument/2006/relationships/notesMaster" Target="/ppt/notesMasters/notesMaster1.xml" Id="R9d9bde76012345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fc2949cfb84131" /><Relationship Type="http://schemas.openxmlformats.org/officeDocument/2006/relationships/notesMaster" Target="/ppt/notesMasters/notesMaster1.xml" Id="R23b595b7fe1540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3ba627edf14688" /><Relationship Type="http://schemas.openxmlformats.org/officeDocument/2006/relationships/notesMaster" Target="/ppt/notesMasters/notesMaster1.xml" Id="Rc87eb30d20b141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8a7d47f34a4737" /><Relationship Type="http://schemas.openxmlformats.org/officeDocument/2006/relationships/notesMaster" Target="/ppt/notesMasters/notesMaster1.xml" Id="Rda8309f7c4ea4c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3b9822b170487b" /><Relationship Type="http://schemas.openxmlformats.org/officeDocument/2006/relationships/notesMaster" Target="/ppt/notesMasters/notesMaster1.xml" Id="Rec57e3145f0d43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  <a:p xmlns:a="http://schemas.openxmlformats.org/drawingml/2006/main">
            <a:r>
              <a:t>- /Users/calin/Desktop/AI Agent/AI 行研案例.pptx（行业方法与案例）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/Users/calin/Desktop/开发改进项.docx</a:t>
            </a:r>
          </a:p>
          <a:p xmlns:a="http://schemas.openxmlformats.org/drawingml/2006/main">
            <a:r>
              <a:t>- /Users/calin/Desktop/AI Agent/投资机构 AI 赋能工作流方案.docx</a:t>
            </a:r>
          </a:p>
          <a:p xmlns:a="http://schemas.openxmlformats.org/drawingml/2006/main">
            <a:r>
              <a:t>- /Users/calin/Desktop/AI Agent/AI 行研案例.pptx</a:t>
            </a:r>
          </a:p>
          <a:p xmlns:a="http://schemas.openxmlformats.org/drawingml/2006/main">
            <a:r>
              <a:t>- /Users/calin/Documents/PhD Application 2/Trident/docs/00_product/AI_CONSULTING_SCENARIOS.md</a:t>
            </a:r>
          </a:p>
          <a:p xmlns:a="http://schemas.openxmlformats.org/drawingml/2006/main">
            <a:r>
              <a:t>- /Users/calin/Documents/PhD Application 2/Trident/src/scenarios/builtin.py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3230ae388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ea19a4da8049cf" /><Relationship Type="http://schemas.openxmlformats.org/officeDocument/2006/relationships/slideLayout" Target="/ppt/slideLayouts/slideLayout1.xml" Id="R71674e1cc5fc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674e1cc5fc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2b6ba218b4a37" /><Relationship Type="http://schemas.openxmlformats.org/officeDocument/2006/relationships/notesSlide" Target="/ppt/notesSlides/notesSlide1.xml" Id="Rb4846013e63b46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d9cedb2f24072" /><Relationship Type="http://schemas.openxmlformats.org/officeDocument/2006/relationships/notesSlide" Target="/ppt/notesSlides/notesSlide2.xml" Id="R187f3ed6c3af4e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554e56432440e" /><Relationship Type="http://schemas.openxmlformats.org/officeDocument/2006/relationships/notesSlide" Target="/ppt/notesSlides/notesSlide3.xml" Id="R59ace66d33184b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162a7723a4712" /><Relationship Type="http://schemas.openxmlformats.org/officeDocument/2006/relationships/notesSlide" Target="/ppt/notesSlides/notesSlide4.xml" Id="R60adfc3d8e9d41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9cc48cff04091" /><Relationship Type="http://schemas.openxmlformats.org/officeDocument/2006/relationships/notesSlide" Target="/ppt/notesSlides/notesSlide5.xml" Id="R452d38eab21b43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23e1dec364be3" /><Relationship Type="http://schemas.openxmlformats.org/officeDocument/2006/relationships/notesSlide" Target="/ppt/notesSlides/notesSlide6.xml" Id="Rc74429b8ca8543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8569e60b54828" /><Relationship Type="http://schemas.openxmlformats.org/officeDocument/2006/relationships/notesSlide" Target="/ppt/notesSlides/notesSlide7.xml" Id="R8c418fe2bf9a4a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2073e8c5b43f2" /><Relationship Type="http://schemas.openxmlformats.org/officeDocument/2006/relationships/notesSlide" Target="/ppt/notesSlides/notesSlide8.xml" Id="R94b03d8921434d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967da72774a49" /><Relationship Type="http://schemas.openxmlformats.org/officeDocument/2006/relationships/notesSlide" Target="/ppt/notesSlides/notesSlide9.xml" Id="R85540b4a75f840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6bf03b63e40e1" /><Relationship Type="http://schemas.openxmlformats.org/officeDocument/2006/relationships/notesSlide" Target="/ppt/notesSlides/notesSlide10.xml" Id="R69a9be0e53414c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aef884384015" /><Relationship Type="http://schemas.openxmlformats.org/officeDocument/2006/relationships/notesSlide" Target="/ppt/notesSlides/notesSlide11.xml" Id="R5b353e62cd33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D193A-313B-4761-9485-B44555C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TRIDENT · SCENARIO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BF67E-8FA5-4600-A46A-907165E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191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VC 工作场景流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AD6C8-7507-4846-A2D5-35BB74A4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771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从基金画像和机会发现，到四维 DD、投资决策、里程碑管理与认知复利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31524-D2D6-48CE-B569-045D06BF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E74ADD-B5A8-4599-B1A3-F8A0C9B9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Scenario Pack blueprint · vc@1.0.0</a:t>
            </a:r>
          </a:p>
        </p:txBody>
      </p:sp>
    </p:spTree>
    <p:extLst>
      <p:ext uri="{BB962C8B-B14F-4D97-AF65-F5344CB8AC3E}">
        <p14:creationId xmlns:p14="http://schemas.microsoft.com/office/powerpoint/2010/main" val="12913844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ED9CB-B90D-4C35-A410-4B1CD4FE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SHARED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210CF-8E99-4F85-BBF2-2C7B3FD0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一个研究底座，三个可注册场景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877A7-B64F-4819-8EF6-A36C8357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3F416-0561-4C15-8716-4347F094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2E281-13B9-4894-85E2-3AFD73E9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D1291-2A37-4065-9903-9704A0C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Research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94AA0-AD6A-4093-8A50-A807C958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定义方法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A162A-B6B7-4E00-AF65-8C42B17F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边界 · 证据 · 测算 · 竞争 · 驱动 · Future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D53B6-1F7C-4CBE-8D52-767D44B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13FAF-159B-4FAB-A2C3-333FF6B2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EB458-551C-4064-AF01-26B6CD51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Industry Pack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E8035-0368-4EC9-BD44-14B28FA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定义行业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A8857-972C-4D99-973E-9337C42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术语 · 分类树 · 数据源 · 指标 · 可比公司规则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D19EC-D7A5-4A22-9BF6-6C856212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437C3-0C8A-497B-8B42-5EE2CC1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1AF6D-110B-48AB-AD4F-C9D92F68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Scenario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EFA71-A8F3-4326-9513-D242AF6F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定义决策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DB2B5-C49D-48F8-9FE4-7AEC31B2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访谈 · Workflow · Gate · 输出 · 评估 · UI 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86D2A-A839-49C5-B143-9F7B4E23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57375"/>
            <a:ext cx="25146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F2AC5-5CEF-4FDA-94AA-B38A09D0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2F886-022D-4BB6-BE2E-8A42C662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Enterprise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4573A-44F2-4412-8E91-4EDFBFBB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定义对象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52262E-AE6A-41E9-B038-9F4F6712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企业/标的资料 · 权限 · 画像 · 历史判断 · KPI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6D6EF6-5A7C-4F13-B4DF-E900EEE8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场景新增 = 注册一个包；不复制 Research Core，也不新增 if / else 分支。</a:t>
            </a:r>
          </a:p>
        </p:txBody>
      </p:sp>
    </p:spTree>
    <p:extLst>
      <p:ext uri="{BB962C8B-B14F-4D97-AF65-F5344CB8AC3E}">
        <p14:creationId xmlns:p14="http://schemas.microsoft.com/office/powerpoint/2010/main" val="930246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DF52C-5889-4B6E-A73C-ED76AB4D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CURRENT STATE VS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485A6-6BDE-43C7-86D7-1705E7A4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现有能力可复用，但插件合同还不完整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F5FC4-C601-4C1C-99CD-2EFA7747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19F5D-562B-4F5C-B060-1569474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B0B6F-F473-4F54-8AD3-5B79D67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仍需改进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819AB-2EE8-4F68-8B22-703AE34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0E483-EDE9-4F1B-AAA5-D3811425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构建式 / 审阅式行业研究双路径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DFEE9-C07C-4660-82E3-14F820DB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02DC7-49B1-408B-B93C-1C2F63A1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Prompt Analysis、Gate 0/1/2 与证据矩阵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940F2-F463-4136-BA74-74AED86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AE86C-A78B-412F-83D4-BCFEC94C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行业定义、独立市场规模测算、竞争与驱动 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A81F2-082E-4330-BADE-94AB9211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75891-577D-4975-B19D-D78D1EF4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企业资料入口、Scorecard、Action Plan 基础服务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DCA40-9BC0-4147-9CE3-9BD6A9E0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6D5EB-62A0-4EF0-BDDD-E1EF10DD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版本化 Extension Registry 与场景说明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BFFCC-F945-4F74-9151-A321DE72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5152A-7DF3-4C30-81DE-4C96E06C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把 pe_vc 拆为 pe 与 vc 两个独立包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210F9-5440-446D-A7A1-3B71F74E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59FA3-A3C3-40B9-BBDA-0C8CC108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9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补齐 input / workflow / evidence / gate / output / UI 契约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C0047-2423-4E6C-8A96-035C9D47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EEEA6-7427-471A-B7C0-0EFADF37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AI 访谈引擎按场景包动态生成问题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85437-EF0D-4196-912A-145F63A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7FABF-77FB-4B49-A658-3A5A58FF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持续感知订阅映射到假设、评分与行动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DBD2F-1138-4A0F-9C55-E6615D96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4B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4B3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CC11B-A1D6-4370-9343-46F3A70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10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Portfolio / 长期记忆从聊天升级为结构化对象</a:t>
            </a:r>
          </a:p>
        </p:txBody>
      </p:sp>
    </p:spTree>
    <p:extLst>
      <p:ext uri="{BB962C8B-B14F-4D97-AF65-F5344CB8AC3E}">
        <p14:creationId xmlns:p14="http://schemas.microsoft.com/office/powerpoint/2010/main" val="15660354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674AA9-B985-4137-8274-30B0275B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SCENARIO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9740C-654F-444C-BB34-63FC87F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vc@1.0.0 场景包是可执行合同，不是 Prompt 文件夹</a:t>
            </a:r>
          </a:p>
        </p:txBody>
      </p:sp>
      <p:cxnSp>
        <p:nvCxnSpPr>
          <p:cNvPr id="113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397E9-E489-4E38-A3BE-6E437FCF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02F35-74EB-4FD9-B96D-E44AE76E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manifest.yaml</a:t>
            </a:r>
          </a:p>
        </p:txBody>
      </p:sp>
      <p:cxnSp>
        <p:nvCxnSpPr>
          <p:cNvPr id="116" name=""/>
          <p:cNvCxnSpPr/>
          <p:nvPr/>
        </p:nvCxnSpPr>
        <p:spPr>
          <a:xfrm xmlns:a="http://schemas.openxmlformats.org/drawingml/2006/main">
            <a:off x="4572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08CEA-5CEF-41D2-98E2-8EBBB6F1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ID · 版本 · 能力 · 依赖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CFD81-9A0E-4974-A361-983DD31E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input_schema</a:t>
            </a:r>
          </a:p>
        </p:txBody>
      </p:sp>
      <p:cxnSp>
        <p:nvCxnSpPr>
          <p:cNvPr id="119" name=""/>
          <p:cNvCxnSpPr/>
          <p:nvPr/>
        </p:nvCxnSpPr>
        <p:spPr>
          <a:xfrm xmlns:a="http://schemas.openxmlformats.org/drawingml/2006/main">
            <a:off x="32766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49738-9D70-4FE3-82FD-5CADA326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必填 / 可选输入与敏感级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9005E-33EC-4433-90E6-E410CFB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workflow.yaml</a:t>
            </a:r>
          </a:p>
        </p:txBody>
      </p:sp>
      <p:cxnSp>
        <p:nvCxnSpPr>
          <p:cNvPr id="122" name=""/>
          <p:cNvCxnSpPr/>
          <p:nvPr/>
        </p:nvCxnSpPr>
        <p:spPr>
          <a:xfrm xmlns:a="http://schemas.openxmlformats.org/drawingml/2006/main">
            <a:off x="60960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CA24F-4D41-419F-8070-790DE5A5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阶段、状态、失败恢复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AC181-6445-4748-B239-1340ED02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interview_policy</a:t>
            </a:r>
          </a:p>
        </p:txBody>
      </p:sp>
      <p:cxnSp>
        <p:nvCxnSpPr>
          <p:cNvPr id="125" name=""/>
          <p:cNvCxnSpPr/>
          <p:nvPr/>
        </p:nvCxnSpPr>
        <p:spPr>
          <a:xfrm xmlns:a="http://schemas.openxmlformats.org/drawingml/2006/main">
            <a:off x="8915400" y="22193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CC040-4836-4B0A-93AA-628130F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角色、动态问题、停止条件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7577B-41CD-4335-995F-FF1EB063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evidence_policy</a:t>
            </a:r>
          </a:p>
        </p:txBody>
      </p:sp>
      <p:cxnSp>
        <p:nvCxnSpPr>
          <p:cNvPr id="128" name=""/>
          <p:cNvCxnSpPr/>
          <p:nvPr/>
        </p:nvCxnSpPr>
        <p:spPr>
          <a:xfrm xmlns:a="http://schemas.openxmlformats.org/drawingml/2006/main">
            <a:off x="4572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3B2DF-345E-4C15-92F4-9B95DCD8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来源、交叉验证、置信度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D9BDE-CAA6-473F-A0C9-51DE77E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review_gates</a:t>
            </a:r>
          </a:p>
        </p:txBody>
      </p:sp>
      <p:cxnSp>
        <p:nvCxnSpPr>
          <p:cNvPr id="131" name=""/>
          <p:cNvCxnSpPr/>
          <p:nvPr/>
        </p:nvCxnSpPr>
        <p:spPr>
          <a:xfrm xmlns:a="http://schemas.openxmlformats.org/drawingml/2006/main">
            <a:off x="32766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044E7-A0CB-4531-BC3C-E4D29511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人工批准、回退与例外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46A26-5C4E-4422-B2FD-3BD5B81F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output_schema</a:t>
            </a:r>
          </a:p>
        </p:txBody>
      </p:sp>
      <p:cxnSp>
        <p:nvCxnSpPr>
          <p:cNvPr id="134" name=""/>
          <p:cNvCxnSpPr/>
          <p:nvPr/>
        </p:nvCxnSpPr>
        <p:spPr>
          <a:xfrm xmlns:a="http://schemas.openxmlformats.org/drawingml/2006/main">
            <a:off x="60960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152CC-A341-45C5-8B94-9320273E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产物、Portfolio 与 Memory 投影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2A7E0-D43B-42D0-83D4-5B2B4272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ui_schema.json</a:t>
            </a:r>
          </a:p>
        </p:txBody>
      </p:sp>
      <p:cxnSp>
        <p:nvCxnSpPr>
          <p:cNvPr id="137" name=""/>
          <p:cNvCxnSpPr/>
          <p:nvPr/>
        </p:nvCxnSpPr>
        <p:spPr>
          <a:xfrm xmlns:a="http://schemas.openxmlformats.org/drawingml/2006/main">
            <a:off x="8915400" y="393382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CC7D6D-662D-42CE-8326-0E57889A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14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页面字段、组件与权限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4C13F1-2361-4DD1-A7B4-338DFE0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运行时只读取合同 → 组合 Research Core → 生成 IC Memo 与项目 Watchlist → 保存可审计状态。</a:t>
            </a:r>
          </a:p>
        </p:txBody>
      </p:sp>
    </p:spTree>
    <p:extLst>
      <p:ext uri="{BB962C8B-B14F-4D97-AF65-F5344CB8AC3E}">
        <p14:creationId xmlns:p14="http://schemas.microsoft.com/office/powerpoint/2010/main" val="5280549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481A0-15CE-4C8A-B853-9CBA5805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D4B78-D4F3-4C0B-9A95-DFC0F56C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VC 场景从投资假设出发，用证据和里程碑持续校准判断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AB0F7-0D83-450A-A54C-670A660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762000" y="310515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A5D08-8ECA-47B5-BB2A-ADABE4FE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E123D-EDAD-4C25-9286-68DD37BC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6782C-18B0-46D8-A39E-A8F5D8C5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基金画像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D814D-C8CC-42D6-B464-D5F8DB8D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访谈赛道、阶段、票面、储备金、地域与风险偏好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2E06C-A3EC-4D45-9435-F578DB48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Fund 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E654F-8C32-4E0E-A1ED-CB1BFFA5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E6ED1-9065-4676-910C-DDCAD67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21DF3-2C97-435B-AE20-B81F588E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投资假设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2359A-CE13-4B3B-9222-A12B941E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形成市场时点、团队、技术、商业化与关键风险假设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E0726-1D6F-4622-A704-36260A85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Proceed / Watch /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C91A6-E292-403A-9267-28008477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F7B6C-172C-4DAD-9667-72FA7F75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4ACFD-F41E-4466-8A23-54A9DA90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证据型 DD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7FA74-D26E-421F-BE3C-CFDB7BDC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独立验证团队、技术、市场、商业模式与融资叙事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EAD29-B835-4F8C-A76D-63D91A6F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Investment Scorecard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56943-DAB5-4F94-82D3-DDE24DB0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208C25-E079-4BEC-A0C9-E9394357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059F3-774E-4EDF-9FA1-A47FBEE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4310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投资决策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EC2EA-E351-49BC-9688-A70400B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5242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比较当前证据、基金门槛与下一里程碑门槛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499C8-00AA-4E8A-B2F5-5B6C37AE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76250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IC Memo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3BA1A2-A22A-4F51-9BE1-A52529E2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952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092C01-E9DD-4BB3-8806-3ED86219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00037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428D98-ADFD-4E8A-A17B-B117FD1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943100"/>
            <a:ext cx="83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里程碑与反馈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41E72-19B2-4530-80F6-74BDF06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524250"/>
            <a:ext cx="838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用创始人、客户与Runway反馈持续校准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E278A-0C17-442E-8006-FF1ED3F7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62500"/>
            <a:ext cx="83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Milestone Plan</a:t>
            </a:r>
          </a:p>
        </p:txBody>
      </p:sp>
    </p:spTree>
    <p:extLst>
      <p:ext uri="{BB962C8B-B14F-4D97-AF65-F5344CB8AC3E}">
        <p14:creationId xmlns:p14="http://schemas.microsoft.com/office/powerpoint/2010/main" val="76235958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2C32DA-0A85-4A80-B9CF-F8DDD0DB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DIAGNOSTIC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AF8C64-4E76-4DE9-A1F1-A6D7E3FD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咨询访谈先形成决策画像，再启动专业研究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F188D-BE39-48FA-9723-DB26881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A3BF0-3399-44D2-B56A-BCE1FF23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8BD7E-3154-43CB-80E2-ABBFD92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问题路由输入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F5D60-5610-4551-915A-71774E16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1D6CC-98FA-4E5A-BBC2-DDDA3A9A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基金赛道、阶段、地域与支票规模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A4EAF-456F-46BC-BC0E-93E5F879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A10E9-F644-4066-9A25-69855B0F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团队 / 技术 / 市场 / 商业化淘汰标准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D3B44-0B59-45AE-A5D7-D544613B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F4173-D217-49D6-80FD-2953A642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风险偏好、所有权目标与储备金策略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491B3-094F-45E6-8F28-6DECC8CE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60C86-E897-42BD-8440-C5BA527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标的 BP、当前验证与最大疑点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34021-1056-4766-A177-1535D97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35443-1C47-473D-B0ED-5ED5C2BC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历史项目成败与 IC 争议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6BB40-45CD-45F5-A5D1-920BA13D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90700"/>
            <a:ext cx="5467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EAA8C-327B-477E-A66A-090992A4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结构化输出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75D97-2595-4CEE-ACE3-72996669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E1056-7DB1-41C6-8CEB-5B6CDDB0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717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Fund Thesis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A61A8-55F2-4060-81D5-ED341EB6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FFD0D-0824-446F-983C-A40FA49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投资人 Decision Style 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CFC43-9AE1-4C76-BAF4-9434B35C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5D093A-1EAA-4A9F-BD73-8CEFE48C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标的公司初始 Portfolio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908D4-DA22-4430-BAA6-CB8F0E4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910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24102-BB3A-4C3B-A21A-0E18F708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初步投资假设与 Kill Criteria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45651-1F06-4209-A7BB-4EC2DF94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24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F9D32-03B7-44E0-9E5F-8063508D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51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动态 DD 问题树和下一验证里程碑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A97A1-A2D2-4061-9E01-5E196849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访谈问题由目标、已上传资料、既有记忆、当前缺口和后续评分需求共同决定；不是固定问卷。</a:t>
            </a:r>
          </a:p>
        </p:txBody>
      </p:sp>
    </p:spTree>
    <p:extLst>
      <p:ext uri="{BB962C8B-B14F-4D97-AF65-F5344CB8AC3E}">
        <p14:creationId xmlns:p14="http://schemas.microsoft.com/office/powerpoint/2010/main" val="10477334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2C077-F2D6-42BD-808C-7B988FD9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CORE EMBEDDING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28A6E-BC22-4070-B7BA-0922D8CD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共享行业研究只做与场景决策有关的部分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8AA46-F132-460A-A212-EBC0D4FC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4D73-B152-4E0F-8E5A-2FC1BA52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0196B-6DAC-4D25-BE73-5298583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市场边界与赛道树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2F8AB-ABBD-46F7-9070-983F71C1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91351-76E9-4776-8992-C49D1DEA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94F21-3CD2-4378-B25B-AE357D23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独立市场规模测算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8A6EA-0FC7-4EBF-A77E-A1D10534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3A3E6-F378-47BD-B701-060DAA8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76BA7-3CF4-47B0-93DE-BA1745F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产业链与价值池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04D61-5310-4649-B486-309DD890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34AD4-8C94-4F72-B5FA-50F2FE5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6E646-0B99-4D90-8D1C-E0C197D3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竞争格局与可比对象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D222C-1C92-46F9-8294-7322A549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38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B982B-783D-4B79-A5A6-6DAC41F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52625"/>
            <a:ext cx="1962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23CC5-D530-431C-9D4B-216BC368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驱动 / 制约 / Future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DC0C0-F147-40D9-B309-0FDC15EF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场景过滤器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BA0D5-BD5D-4D74-A1FE-F0C30F8F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只研究市场时机、技术替代路径、早期渗透、客户采用、竞争窗口与可扩张性；市场规模同时给出独立测算、可服务市场和不确定性。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11A69-BCAE-499D-9D7C-41ED0450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46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BD0BE-A2FE-4E54-936B-BE7FD3E4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Research Core 输出进入场景判断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EF64E1-BB29-4502-9121-A48AD289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76700"/>
            <a:ext cx="4895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now、市场形成机制、子赛道吸引力、潜在赢家画像、竞争窗口、下一轮融资前必须完成的市场验证。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1BDF9-C778-4E2B-9B01-98C82499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Gate 0 锁边界 · Gate 1 审证据 · Gate 2 审判断；场景包只能加严，不能绕过。</a:t>
            </a:r>
          </a:p>
        </p:txBody>
      </p:sp>
    </p:spTree>
    <p:extLst>
      <p:ext uri="{BB962C8B-B14F-4D97-AF65-F5344CB8AC3E}">
        <p14:creationId xmlns:p14="http://schemas.microsoft.com/office/powerpoint/2010/main" val="4406149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83C87-169F-44D8-97DD-7E3AF35A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SCENARIO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3F1F5-4E86-4576-BC87-9CA4F5C6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VC Scorecard比较当前证据、基金门槛与下一里程碑门槛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9B5ED-F1E3-491B-AEAF-B3B8ABBA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54082-05D1-4660-9AFA-723CE328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75A65-09DA-4EC2-A68C-223172C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14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技术与产品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567CE-175A-43D9-8999-791EAC8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性能、知识产权、工程化难度、替代路线与迭代速度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1A09B-2F95-4DA9-8868-9A0A75FD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当前证据</a:t>
            </a:r>
          </a:p>
        </p:txBody>
      </p:sp>
      <p:cxnSp>
        <p:nvCxnSpPr>
          <p:cNvPr id="89" name=""/>
          <p:cNvCxnSpPr/>
          <p:nvPr/>
        </p:nvCxnSpPr>
        <p:spPr>
          <a:xfrm xmlns:a="http://schemas.openxmlformats.org/drawingml/2006/main">
            <a:off x="457200" y="24955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C1149-7270-4EDF-8ACA-E3B403A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7E9B4-B6C2-4138-BC72-DC3E396E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市场与商业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63D8E-7131-423F-B6AD-C6B9E6DD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痛点强度、付费意愿、销售周期、留存与单位经济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3A4B7-37F4-43CF-A443-DD18BE8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基金门槛</a:t>
            </a:r>
          </a:p>
        </p:txBody>
      </p:sp>
      <p:cxnSp>
        <p:nvCxnSpPr>
          <p:cNvPr id="94" name=""/>
          <p:cNvCxnSpPr/>
          <p:nvPr/>
        </p:nvCxnSpPr>
        <p:spPr>
          <a:xfrm xmlns:a="http://schemas.openxmlformats.org/drawingml/2006/main">
            <a:off x="457200" y="34861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519BA-8C24-4A06-A65F-8F3CB12B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4C849-6C73-4D01-973A-AB62E4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团队与执行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5B03D-DE7B-46BD-9BCF-D7B2FBDF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创始人动机、学习速度、关键招聘和组织协作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9B8D7-2A2B-4959-A6D2-4EB0C5AE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里程碑门槛</a:t>
            </a:r>
          </a:p>
        </p:txBody>
      </p:sp>
      <p:cxnSp>
        <p:nvCxnSpPr>
          <p:cNvPr id="99" name=""/>
          <p:cNvCxnSpPr/>
          <p:nvPr/>
        </p:nvCxnSpPr>
        <p:spPr>
          <a:xfrm xmlns:a="http://schemas.openxmlformats.org/drawingml/2006/main">
            <a:off x="457200" y="44767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5F599-89C2-47FD-A50E-C025FAE3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C7DE65-A2C7-492C-85C2-9387EFEF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融资与下行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F681A-DAC8-4BCC-AC4C-6F184051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资金效率、下一里程碑、稀释、后续融资与退出可能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9CFE0-20D8-454A-8776-0AA8DDB5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321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Runway / Exit</a:t>
            </a:r>
          </a:p>
        </p:txBody>
      </p:sp>
    </p:spTree>
    <p:extLst>
      <p:ext uri="{BB962C8B-B14F-4D97-AF65-F5344CB8AC3E}">
        <p14:creationId xmlns:p14="http://schemas.microsoft.com/office/powerpoint/2010/main" val="245192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2F18F-F9BD-4B7A-AD3F-24368831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ACTION FEEDBACK &amp; SELF-EVOLUTION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C1B96-8427-4B1A-BA6F-6D42FBC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行动反馈与自进化：场景内的后决策闭环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66D4E-C724-4E23-A3C0-F1F52169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9CE56-DE7C-4C36-99F4-EE54C1BD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21AC4-9E9D-471C-82F2-4874292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计划发布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F6A8-55F7-4BCA-B072-DAB3795A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000BE-B17E-4CC2-8A24-46B67867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B3A8A-7E13-42D1-BF1E-F392BBF0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进度反馈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8FAF2-CD97-4DBB-A428-90979A55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C736F-8DEA-443F-ACC7-77DB4AB5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CEAB3-4F99-4433-A7CA-A1763327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效果/客户反馈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91AFF-EFCE-42FD-AA91-46049D03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05FD9-5BBD-4741-B726-2AC55B92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1A751-465F-41EA-9279-6CDA285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偏差诊断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C48F2-CA99-42BC-8385-2D482E9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971A1-5F33-4887-8634-99E5875D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713C5-3107-426F-86A5-B25809D2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动态调案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442E2-4DBE-4747-B5CE-6BDA75CF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812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D9805A-88F9-4645-BA5D-3617EC47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62125"/>
            <a:ext cx="1543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172A6-76B1-4037-A3AF-53E17CA1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812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人工确认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CED6D-3754-4618-B5F1-B8A81831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VC 投后学习：投资假设 → 里程碑 → Follow-on 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0BD35-4EC3-4232-B2AC-E36A514F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4476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投资假设、创始团队承诺与里程碑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产品、客户、技术、招聘与融资进度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创始人、客户与市场反馈及阻塞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偏差归因：假设 / 路线 / 执行 / 外部变化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提出支持、Follow-on 或退出建议并人工确认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D15E3-EDF4-4B97-B562-12D61F55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企业 / 标的知识库写回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D423A-EAC9-44F1-BD96-C23BF194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事实层：进度、KPI、结果与外部信号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决策层：原始假设、选择理由与版本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行动层：责任人、反馈、阻塞与调整记录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学习层：有效模式、失败原因与可复用规则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9A70A-2917-4C10-93D5-A926175E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AI 只提出调整方案，不静默覆盖：旧版本、依据、反馈和审批均可追溯；接口预留给未来完善版工作流。</a:t>
            </a:r>
          </a:p>
        </p:txBody>
      </p:sp>
    </p:spTree>
    <p:extLst>
      <p:ext uri="{BB962C8B-B14F-4D97-AF65-F5344CB8AC3E}">
        <p14:creationId xmlns:p14="http://schemas.microsoft.com/office/powerpoint/2010/main" val="16254192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51649D-F4FA-4491-BBC4-EE7AF4C5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 &amp; ACTION QUALITY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91FFE-0AA0-4D1B-BDB0-F71860B4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用同一套反馈数据区分：决策是否正确、行动设计是否合理、执行是否到位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B8F43-C161-427F-ABB2-04B0347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CC764-2971-43CC-BF12-A40B0C0D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67727-43A1-4868-8BD6-12CE6652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质量维度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CF85B-B27C-44C5-B3FF-7625D36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2986A-37DD-487C-88AD-6A58059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关键指标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FA4E8-71F0-4229-91E3-B7A8AFC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052F-6B04-474B-BBFE-17F987F5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764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诊断问题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14301-FFB7-4119-9A08-04DABE5D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A"/>
          </a:solidFill>
          <a:ln xmlns:a="http://schemas.openxmlformats.org/drawingml/2006/main" w="9525">
            <a:solidFill>
              <a:srgbClr val="123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8AFF8-44BD-4FAB-9944-7F30456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764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A204D-D5E2-4936-9ED7-26E83FA3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97782-3AC2-4D79-95E5-AD2CBA90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决策质量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05ACE-77E8-482A-BF77-52985E29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288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E877D-6485-4552-857A-87018AA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投资假设命中率、里程碑预测偏差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52D5A-895E-4B8E-84AB-3C4BD36D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93F73-7B3F-42C9-9653-489CD178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622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原投资逻辑是否成立？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959D9-B217-4BC0-8643-AB2D7C6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288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59DE6-4F58-423B-8250-2532DBE3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校准投资框架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1F369-16A7-4537-A0F6-5F4EBF6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3BC27-E1D8-4C93-BA72-BB4D7188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行动质量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44ECA-E5AC-46C8-8B35-FB818748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BBA1D-40A0-4C84-934B-79DE5010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里程碑按期率、资源使用效果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7172F2-2C69-4420-AE2E-62247F19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7FEE7-A9AD-4986-80C4-CD9820F5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支持计划是否有效？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3E0C7C-2E3F-4951-AD43-BD64969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718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DC3A4-3FD9-428A-9D4F-D8BCC033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调整帮助与资源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1382A-3002-42C9-AC91-4FC3D72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8DF4A-31E9-4290-9113-B76F31F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执行质量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8F168-130D-4C45-8F2B-7B3FEA6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147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FC7D3-0D03-4361-8CF2-B14C4E6D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481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阻塞、Runway、团队承诺反馈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D2821-B110-486C-82D1-76C0D74D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495D8E-03DF-4A5E-A27B-A9A43459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团队是否执行到位？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6A84E4-2AE6-45E8-BDE5-8FC90E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9A9884-4E39-40F1-83BD-7A879FE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触发帮助或预警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155B54-1226-41EA-8784-EAB358B1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F79D3D-2A05-4A84-B036-9547145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客户/市场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C3C27-72BA-4BF3-9B6D-DF045FC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577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529A50-68F0-425C-B0F7-456B83F2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910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客户采用、留存、商业反馈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45ED43-95D7-4055-AD4E-FF07EE6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577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0E0F1E-E167-4AD9-9CB7-F4271E6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市场信号是否支持 thesis？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783C20-ADF2-415E-80EE-3AD409C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5770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0A7156-874A-4CD8-8A3B-1ED22917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调整产品/市场假设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6E99A9-1AFC-40BA-8978-A7318BE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05A477-0680-46EE-8C42-9C1BD136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学习质量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83BAA4-FEAA-4734-9AFD-4BDE7114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006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FFF4AF-C5FD-4A59-89AA-EC15E607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反馈完整度、调整时延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A25B97-24BF-4E06-BA88-189FD097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0065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21D44F-8EFE-4736-8C1E-EC9905A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是否减少重复误判？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2C7C93-4802-4A4B-9FD8-F7FDBF06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006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D45E3D-B7DC-465D-83C6-888F85F1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34000"/>
            <a:ext cx="2914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写入基金判断库</a:t>
            </a:r>
          </a:p>
        </p:txBody>
      </p:sp>
    </p:spTree>
    <p:extLst>
      <p:ext uri="{BB962C8B-B14F-4D97-AF65-F5344CB8AC3E}">
        <p14:creationId xmlns:p14="http://schemas.microsoft.com/office/powerpoint/2010/main" val="965668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990EB8-150B-4FBA-9D97-B22687F2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EXTENSION CONTRACT &amp; BUILD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82368-FF28-4778-86C0-1FCA0ED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VC Pack预留投资方法Skill接口，并把里程碑反馈写回标的知识空间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57200" y="13525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99D0B-E575-41FB-9C08-3D642035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AAFA1-70C8-466F-916C-0C551333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1B33-AAA0-4F86-9F79-628369CA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策略Skill插槽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1F640-5343-476C-8BBD-90AAB621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vc_investment_method可替换投资假设、基金适配、里程碑和跟投逻辑。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2838450" y="2667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85847-6BDB-4EF5-A429-4C6B2AE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80E68-937C-42FF-8399-A96B331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受保护不变量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71163-0664-415F-8B32-5B424E2B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证据可追溯、人工审核、版本历史与Portfolio反馈写回不可覆盖。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5562600" y="2667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A27D06-8F08-48CA-A1FA-FB50CC35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6A0A9-8744-4571-A30C-0C1E783D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投资判断更新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097F7-2F36-428C-AE33-47C9BED6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创始人、客户、里程碑和Runway变化触发跟投、支持、观察或退出复核。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8286750" y="2667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0E526-6F83-42C6-87A7-C3790DE1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CA8CF-83ED-46C5-9C5B-D6EF25D4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版本化应用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0CE38-A327-4741-B87A-3968863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新Skill只生成新版本；批准后写回标的知识库并驱动Follow-on判断。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08C64-8196-46FB-AD2D-8F37B445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820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03061-FAD3-4966-8BFF-DC25D4D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验收：投资方法可替换，但证据、人工批准、版本历史与Portfolio隔离始终保留。</a:t>
            </a:r>
          </a:p>
        </p:txBody>
      </p:sp>
    </p:spTree>
    <p:extLst>
      <p:ext uri="{BB962C8B-B14F-4D97-AF65-F5344CB8AC3E}">
        <p14:creationId xmlns:p14="http://schemas.microsoft.com/office/powerpoint/2010/main" val="1701371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2026-08-21T10:53:25.6460000Z</dcterms:created>
  <dcterms:modified xsi:type="dcterms:W3CDTF">2026-08-21T10:53:25.6460000Z</dcterms:modified>
</coreProperties>
</file>